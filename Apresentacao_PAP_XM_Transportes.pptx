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914400"/>
            <a:ext cx="2286000" cy="2286000"/>
          </a:xfrm>
          <a:prstGeom prst="ellipse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89720" y="1600200"/>
            <a:ext cx="914400" cy="914400"/>
          </a:xfrm>
          <a:prstGeom prst="ellipse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74519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52560" y="2971800"/>
            <a:ext cx="54864" cy="1508760"/>
          </a:xfrm>
          <a:prstGeom prst="rect">
            <a:avLst/>
          </a:prstGeom>
          <a:solidFill>
            <a:srgbClr val="4C6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23960" y="4343400"/>
            <a:ext cx="502920" cy="502920"/>
          </a:xfrm>
          <a:prstGeom prst="ellipse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84080" y="3931920"/>
            <a:ext cx="384048" cy="384048"/>
          </a:xfrm>
          <a:prstGeom prst="ellipse">
            <a:avLst/>
          </a:prstGeom>
          <a:solidFill>
            <a:srgbClr val="E3A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2920"/>
            <a:ext cx="7132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CBD8EE"/>
                </a:solidFill>
                <a:latin typeface="Aptos"/>
              </a:defRPr>
            </a:pPr>
            <a:r>
              <a:t>INSTITUTO MÉDIO COMERCIAL DE LUANDA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143000"/>
            <a:ext cx="7132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CC1F1F"/>
                </a:solidFill>
                <a:latin typeface="Aptos"/>
              </a:defRPr>
            </a:pPr>
            <a:r>
              <a:t>PROVA DE APTIDÃO PROFISSIONAL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645920"/>
            <a:ext cx="758952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Criação de um Sistema Web</a:t>
            </a:r>
            <a:br/>
            <a:r>
              <a:t>para Gerenciamento e</a:t>
            </a:r>
            <a:br/>
            <a:r>
              <a:t>Automação de Vendas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886200"/>
            <a:ext cx="7132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DBE4F3"/>
                </a:solidFill>
                <a:latin typeface="Aptos"/>
              </a:defRPr>
            </a:pPr>
            <a:r>
              <a:t>Estudo de caso: XM-Transportes, Lda. • Camama, Luanda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4617720"/>
            <a:ext cx="594360" cy="5486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892040"/>
            <a:ext cx="74980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CBD8EE"/>
                </a:solidFill>
                <a:latin typeface="Aptos"/>
              </a:defRPr>
            </a:pPr>
            <a:r>
              <a:t>Josemar Bunga Fonseca  |  13.ª Classe  |  Turma DTI  |  Sala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285232"/>
            <a:ext cx="7132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CBD8EE"/>
                </a:solidFill>
                <a:latin typeface="Aptos"/>
              </a:defRPr>
            </a:pPr>
            <a:r>
              <a:t>Orientador: Professor Joaquim Mbango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98932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Luanda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0C1C3A"/>
                </a:solidFill>
                <a:latin typeface="Aptos"/>
              </a:defRPr>
            </a:pPr>
            <a:r>
              <a:t>Contexto e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37082"/>
                </a:solidFill>
                <a:latin typeface="Aptos"/>
              </a:defRPr>
            </a:pPr>
            <a:r>
              <a:t>Por que a XM-Transportes precisa de uma solução digital?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07592"/>
            <a:ext cx="658368" cy="5486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37082"/>
                </a:solidFill>
                <a:latin typeface="Aptos"/>
              </a:defRPr>
            </a:pPr>
            <a:r>
              <a:t>XM-TRANSPORTES  •  PAP 2026  |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73152" cy="1874519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10512"/>
            <a:ext cx="3154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CC1F1F"/>
                </a:solidFill>
                <a:latin typeface="Aptos"/>
              </a:defRPr>
            </a:pPr>
            <a:r>
              <a:t>Processos manuais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12848"/>
            <a:ext cx="3154680" cy="11612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42D3C"/>
                </a:solidFill>
                <a:latin typeface="Aptos"/>
              </a:defRPr>
            </a:pPr>
            <a:r>
              <a:t>Reservas e registos dependem de procedimentos pouco automatizados.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73152" cy="1874519"/>
          </a:xfrm>
          <a:prstGeom prst="rect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810512"/>
            <a:ext cx="3154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A3A7C"/>
                </a:solidFill>
                <a:latin typeface="Aptos"/>
              </a:defRPr>
            </a:pPr>
            <a:r>
              <a:t>Atendimento lento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12848"/>
            <a:ext cx="3154680" cy="11612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42D3C"/>
                </a:solidFill>
                <a:latin typeface="Aptos"/>
              </a:defRPr>
            </a:pPr>
            <a:r>
              <a:t>O cliente pode ter dificuldade em consultar horários, preços e disponibilidade.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45920"/>
            <a:ext cx="73152" cy="1874519"/>
          </a:xfrm>
          <a:prstGeom prst="rect">
            <a:avLst/>
          </a:prstGeom>
          <a:solidFill>
            <a:srgbClr val="E3A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810512"/>
            <a:ext cx="3154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E3A630"/>
                </a:solidFill>
                <a:latin typeface="Aptos"/>
              </a:defRPr>
            </a:pPr>
            <a:r>
              <a:t>Controlo financeiro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12848"/>
            <a:ext cx="3154680" cy="11612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42D3C"/>
                </a:solidFill>
                <a:latin typeface="Aptos"/>
              </a:defRPr>
            </a:pPr>
            <a:r>
              <a:t>A confirmação de pagamentos e o controlo das vendas precisam de maior organização.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86200"/>
            <a:ext cx="10927080" cy="1508760"/>
          </a:xfrm>
          <a:prstGeom prst="round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FFBEBE"/>
                </a:solidFill>
                <a:latin typeface="Aptos"/>
              </a:defRPr>
            </a:pPr>
            <a:r>
              <a:t>PROBLEMA CENTRAL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99669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Como tornar as vendas, reservas e pagamentos mais rápidos, organizados e seguros?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789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637082"/>
                </a:solidFill>
                <a:latin typeface="Aptos"/>
              </a:defRPr>
            </a:pPr>
            <a:r>
              <a:t>Fonte: problema identificado no documento do projeto.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0C1C3A"/>
                </a:solidFill>
                <a:latin typeface="Aptos"/>
              </a:defRPr>
            </a:pPr>
            <a:r>
              <a:t>Pergunta de pesquisa e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37082"/>
                </a:solidFill>
                <a:latin typeface="Aptos"/>
              </a:defRPr>
            </a:pPr>
            <a:r>
              <a:t>O que o projeto pretende responder e alcançar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07592"/>
            <a:ext cx="658368" cy="5486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37082"/>
                </a:solidFill>
                <a:latin typeface="Aptos"/>
              </a:defRPr>
            </a:pPr>
            <a:r>
              <a:t>XM-TRANSPORTES  •  PAP 2026  |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64208"/>
            <a:ext cx="5212080" cy="1143000"/>
          </a:xfrm>
          <a:prstGeom prst="roundRect">
            <a:avLst/>
          </a:prstGeom>
          <a:solidFill>
            <a:srgbClr val="E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480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1A3A7C"/>
                </a:solidFill>
                <a:latin typeface="Aptos"/>
              </a:defRPr>
            </a:pPr>
            <a:r>
              <a:t>PERGUNTA DE PESQUISA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4572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0C1C3A"/>
                </a:solidFill>
                <a:latin typeface="Aptos"/>
              </a:defRPr>
            </a:pPr>
            <a:r>
              <a:t>A criação de um sistema web facilitará e tornará mais eficiente a gestão das vendas online?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4297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CC1F1F"/>
                </a:solidFill>
                <a:latin typeface="Aptos"/>
              </a:defRPr>
            </a:pPr>
            <a:r>
              <a:t>OBJETIVO GERAL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84831"/>
            <a:ext cx="48920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0C1C3A"/>
                </a:solidFill>
                <a:latin typeface="Aptos"/>
              </a:defRPr>
            </a:pPr>
            <a:r>
              <a:t>Criar e implementar um sistema web para gerenciamento e automação de vendas da XM-Transportes, Lda.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4114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1A3A7C"/>
                </a:solidFill>
                <a:latin typeface="Aptos"/>
              </a:defRPr>
            </a:pPr>
            <a:r>
              <a:t>OBJETIVOS ESPECÍFICOS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10515600" cy="214884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42D3C"/>
                </a:solidFill>
                <a:latin typeface="Aptos"/>
              </a:defRPr>
            </a:pPr>
            <a:r>
              <a:t>•  Disponibilizar horários, rotas e preços online.</a:t>
            </a:r>
          </a:p>
          <a:p>
            <a:pPr>
              <a:spcAft>
                <a:spcPts val="700"/>
              </a:spcAft>
              <a:defRPr sz="1600">
                <a:solidFill>
                  <a:srgbClr val="242D3C"/>
                </a:solidFill>
                <a:latin typeface="Aptos"/>
              </a:defRPr>
            </a:pPr>
            <a:r>
              <a:t>•  Digitalizar pedidos de aluguer de viaturas.</a:t>
            </a:r>
          </a:p>
          <a:p>
            <a:pPr>
              <a:spcAft>
                <a:spcPts val="700"/>
              </a:spcAft>
              <a:defRPr sz="1600">
                <a:solidFill>
                  <a:srgbClr val="242D3C"/>
                </a:solidFill>
                <a:latin typeface="Aptos"/>
              </a:defRPr>
            </a:pPr>
            <a:r>
              <a:t>•  Confirmar pagamentos antes da emissão de bilhetes ou contratos.</a:t>
            </a:r>
          </a:p>
          <a:p>
            <a:pPr>
              <a:spcAft>
                <a:spcPts val="700"/>
              </a:spcAft>
              <a:defRPr sz="1600">
                <a:solidFill>
                  <a:srgbClr val="242D3C"/>
                </a:solidFill>
                <a:latin typeface="Aptos"/>
              </a:defRPr>
            </a:pPr>
            <a:r>
              <a:t>•  Melhorar o controlo da frota e o relacionamento com os clientes.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0C1C3A"/>
                </a:solidFill>
                <a:latin typeface="Aptos"/>
              </a:defRPr>
            </a:pPr>
            <a:r>
              <a:t>A solução 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37082"/>
                </a:solidFill>
                <a:latin typeface="Aptos"/>
              </a:defRPr>
            </a:pPr>
            <a:r>
              <a:t>Uma plataforma para clientes e gestão interna da empresa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07592"/>
            <a:ext cx="658368" cy="5486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37082"/>
                </a:solidFill>
                <a:latin typeface="Aptos"/>
              </a:defRPr>
            </a:pPr>
            <a:r>
              <a:t>XM-TRANSPORTES  •  PAP 2026  |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31720"/>
            <a:ext cx="3566160" cy="1143000"/>
          </a:xfrm>
          <a:prstGeom prst="round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542032"/>
            <a:ext cx="310896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SISTEMA WEB</a:t>
            </a:r>
            <a:br/>
            <a:r>
              <a:t>XM-TRANSPORTES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00200"/>
            <a:ext cx="73152" cy="1325880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764792"/>
            <a:ext cx="2606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CC1F1F"/>
                </a:solidFill>
                <a:latin typeface="Aptos"/>
              </a:defRPr>
            </a:pPr>
            <a:r>
              <a:t>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67128"/>
            <a:ext cx="2606040" cy="6126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242D3C"/>
                </a:solidFill>
                <a:latin typeface="Aptos"/>
              </a:defRPr>
            </a:pPr>
            <a:r>
              <a:t>Consulta viagens, compra bilhetes e solicita aluguer.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60020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1600200"/>
            <a:ext cx="73152" cy="1325880"/>
          </a:xfrm>
          <a:prstGeom prst="rect">
            <a:avLst/>
          </a:prstGeom>
          <a:solidFill>
            <a:srgbClr val="1F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05088" y="1764792"/>
            <a:ext cx="2606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F825C"/>
                </a:solidFill>
                <a:latin typeface="Aptos"/>
              </a:defRPr>
            </a:pPr>
            <a:r>
              <a:t>Tesouraria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167128"/>
            <a:ext cx="2606040" cy="6126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242D3C"/>
                </a:solidFill>
                <a:latin typeface="Aptos"/>
              </a:defRPr>
            </a:pPr>
            <a:r>
              <a:t>Verifica comprovativos e confirma pagamentos.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6908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069080"/>
            <a:ext cx="73152" cy="1325880"/>
          </a:xfrm>
          <a:prstGeom prst="rect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233672"/>
            <a:ext cx="2606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A3A7C"/>
                </a:solidFill>
                <a:latin typeface="Aptos"/>
              </a:defRPr>
            </a:pPr>
            <a:r>
              <a:t>Administrador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636008"/>
            <a:ext cx="2606040" cy="6126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242D3C"/>
                </a:solidFill>
                <a:latin typeface="Aptos"/>
              </a:defRPr>
            </a:pPr>
            <a:r>
              <a:t>Acompanha vendas, relatórios e disponibilidade.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406908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4069080"/>
            <a:ext cx="73152" cy="1325880"/>
          </a:xfrm>
          <a:prstGeom prst="rect">
            <a:avLst/>
          </a:prstGeom>
          <a:solidFill>
            <a:srgbClr val="E3A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05088" y="4233672"/>
            <a:ext cx="2606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E3A630"/>
                </a:solidFill>
                <a:latin typeface="Aptos"/>
              </a:defRPr>
            </a:pPr>
            <a:r>
              <a:t>Frota / microchips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4636008"/>
            <a:ext cx="2606040" cy="6126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242D3C"/>
                </a:solidFill>
                <a:latin typeface="Aptos"/>
              </a:defRPr>
            </a:pPr>
            <a:r>
              <a:t>Prevê registo de localização e ocorrências.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57600" y="2240280"/>
            <a:ext cx="640080" cy="411480"/>
          </a:xfrm>
          <a:prstGeom prst="line">
            <a:avLst/>
          </a:prstGeom>
          <a:ln w="25400">
            <a:solidFill>
              <a:srgbClr val="96A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863840" y="2240280"/>
            <a:ext cx="640080" cy="411480"/>
          </a:xfrm>
          <a:prstGeom prst="line">
            <a:avLst/>
          </a:prstGeom>
          <a:ln w="25400">
            <a:solidFill>
              <a:srgbClr val="96A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657600" y="3200400"/>
            <a:ext cx="640080" cy="1371600"/>
          </a:xfrm>
          <a:prstGeom prst="line">
            <a:avLst/>
          </a:prstGeom>
          <a:ln w="25400">
            <a:solidFill>
              <a:srgbClr val="96A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3200400"/>
            <a:ext cx="640080" cy="1371600"/>
          </a:xfrm>
          <a:prstGeom prst="line">
            <a:avLst/>
          </a:prstGeom>
          <a:ln w="25400">
            <a:solidFill>
              <a:srgbClr val="96A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580644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637082"/>
                </a:solidFill>
                <a:latin typeface="Aptos"/>
              </a:defRPr>
            </a:pPr>
            <a:r>
              <a:t>Nota: a integração com microchips é uma funcionalidade prevista no projeto.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0C1C3A"/>
                </a:solidFill>
                <a:latin typeface="Aptos"/>
              </a:defRPr>
            </a:pPr>
            <a:r>
              <a:t>Principais funcionalidades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37082"/>
                </a:solidFill>
                <a:latin typeface="Aptos"/>
              </a:defRPr>
            </a:pPr>
            <a:r>
              <a:t>O que a plataforma deverá permitir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07592"/>
            <a:ext cx="658368" cy="5486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37082"/>
                </a:solidFill>
                <a:latin typeface="Aptos"/>
              </a:defRPr>
            </a:pPr>
            <a:r>
              <a:t>XM-TRANSPORTES  •  PAP 2026  |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42900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847088"/>
            <a:ext cx="457200" cy="457200"/>
          </a:xfrm>
          <a:prstGeom prst="ellipse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47088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C1C3A"/>
                </a:solidFill>
                <a:latin typeface="Aptos"/>
              </a:defRPr>
            </a:pPr>
            <a:r>
              <a:t>Consulta de viagens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29260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42D3C"/>
                </a:solidFill>
                <a:latin typeface="Aptos"/>
              </a:defRPr>
            </a:pPr>
            <a:r>
              <a:t>Rotas, horários, partidas, chegadas e preços.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42900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26280" y="1847088"/>
            <a:ext cx="457200" cy="457200"/>
          </a:xfrm>
          <a:prstGeom prst="ellipse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901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847088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C1C3A"/>
                </a:solidFill>
                <a:latin typeface="Aptos"/>
              </a:defRPr>
            </a:pPr>
            <a:r>
              <a:t>Compra de bilhetes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23160"/>
            <a:ext cx="29260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42D3C"/>
                </a:solidFill>
                <a:latin typeface="Aptos"/>
              </a:defRPr>
            </a:pPr>
            <a:r>
              <a:t>Reserva digital com registo da compra.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645920"/>
            <a:ext cx="342900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83879" y="1847088"/>
            <a:ext cx="457200" cy="457200"/>
          </a:xfrm>
          <a:prstGeom prst="ellipse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901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47088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C1C3A"/>
                </a:solidFill>
                <a:latin typeface="Aptos"/>
              </a:defRPr>
            </a:pPr>
            <a:r>
              <a:t>Aluguer de viaturas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423160"/>
            <a:ext cx="29260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42D3C"/>
                </a:solidFill>
                <a:latin typeface="Aptos"/>
              </a:defRPr>
            </a:pPr>
            <a:r>
              <a:t>Escolha de marca, modelo e cor; envio de pedido.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57600"/>
            <a:ext cx="342900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3858768"/>
            <a:ext cx="457200" cy="457200"/>
          </a:xfrm>
          <a:prstGeom prst="ellipse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91363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858768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C1C3A"/>
                </a:solidFill>
                <a:latin typeface="Aptos"/>
              </a:defRPr>
            </a:pPr>
            <a:r>
              <a:t>Validação de pagamentos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34840"/>
            <a:ext cx="29260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42D3C"/>
                </a:solidFill>
                <a:latin typeface="Aptos"/>
              </a:defRPr>
            </a:pPr>
            <a:r>
              <a:t>Confirmação pela tesouraria antes de libertar o serviço.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657600"/>
            <a:ext cx="342900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26280" y="3858768"/>
            <a:ext cx="457200" cy="457200"/>
          </a:xfrm>
          <a:prstGeom prst="ellipse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91363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858768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C1C3A"/>
                </a:solidFill>
                <a:latin typeface="Aptos"/>
              </a:defRPr>
            </a:pPr>
            <a:r>
              <a:t>Gestão e relatórios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434840"/>
            <a:ext cx="29260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42D3C"/>
                </a:solidFill>
                <a:latin typeface="Aptos"/>
              </a:defRPr>
            </a:pPr>
            <a:r>
              <a:t>Acompanhamento de vendas e informação administrativa.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3657600"/>
            <a:ext cx="3429000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83879" y="3858768"/>
            <a:ext cx="457200" cy="457200"/>
          </a:xfrm>
          <a:prstGeom prst="ellipse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391363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858768"/>
            <a:ext cx="2423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C1C3A"/>
                </a:solidFill>
                <a:latin typeface="Aptos"/>
              </a:defRPr>
            </a:pPr>
            <a:r>
              <a:t>Controlo da frota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434840"/>
            <a:ext cx="29260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42D3C"/>
                </a:solidFill>
                <a:latin typeface="Aptos"/>
              </a:defRPr>
            </a:pPr>
            <a:r>
              <a:t>Registo previsto de estado e ocorrências através de microchips.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0C1C3A"/>
                </a:solidFill>
                <a:latin typeface="Aptos"/>
              </a:defRPr>
            </a:pPr>
            <a:r>
              <a:t>Metodologia e intervenientes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37082"/>
                </a:solidFill>
                <a:latin typeface="Aptos"/>
              </a:defRPr>
            </a:pPr>
            <a:r>
              <a:t>Abordagem prevista para desenvolver e avaliar o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07592"/>
            <a:ext cx="658368" cy="5486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37082"/>
                </a:solidFill>
                <a:latin typeface="Aptos"/>
              </a:defRPr>
            </a:pPr>
            <a:r>
              <a:t>XM-TRANSPORTES  •  PAP 2026  |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206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73152" cy="1371600"/>
          </a:xfrm>
          <a:prstGeom prst="rect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10512"/>
            <a:ext cx="47548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A3A7C"/>
                </a:solidFill>
                <a:latin typeface="Aptos"/>
              </a:defRPr>
            </a:pPr>
            <a:r>
              <a:t>Pesquisa bibliográfica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12848"/>
            <a:ext cx="4754879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2D3C"/>
                </a:solidFill>
                <a:latin typeface="Aptos"/>
              </a:defRPr>
            </a:pPr>
            <a:r>
              <a:t>Consulta de livros, documentação técnica e referências sobre sistemas web e gestão.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1206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73152" cy="1371600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810512"/>
            <a:ext cx="47548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CC1F1F"/>
                </a:solidFill>
                <a:latin typeface="Aptos"/>
              </a:defRPr>
            </a:pPr>
            <a:r>
              <a:t>Pesquisa exploratória e de campo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212848"/>
            <a:ext cx="4754879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2D3C"/>
                </a:solidFill>
                <a:latin typeface="Aptos"/>
              </a:defRPr>
            </a:pPr>
            <a:r>
              <a:t>Compreensão dos processos e necessidades operacionais da empresa.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37560"/>
            <a:ext cx="51206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337560"/>
            <a:ext cx="73152" cy="1371600"/>
          </a:xfrm>
          <a:prstGeom prst="rect">
            <a:avLst/>
          </a:prstGeom>
          <a:solidFill>
            <a:srgbClr val="1F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502152"/>
            <a:ext cx="47548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F825C"/>
                </a:solidFill>
                <a:latin typeface="Aptos"/>
              </a:defRPr>
            </a:pPr>
            <a:r>
              <a:t>Pesquisa aplicada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904487"/>
            <a:ext cx="4754879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2D3C"/>
                </a:solidFill>
                <a:latin typeface="Aptos"/>
              </a:defRPr>
            </a:pPr>
            <a:r>
              <a:t>Aplicação dos conhecimentos no desenho e desenvolvimento da solução.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337560"/>
            <a:ext cx="51206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337560"/>
            <a:ext cx="73152" cy="1371600"/>
          </a:xfrm>
          <a:prstGeom prst="rect">
            <a:avLst/>
          </a:prstGeom>
          <a:solidFill>
            <a:srgbClr val="E3A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502152"/>
            <a:ext cx="47548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E3A630"/>
                </a:solidFill>
                <a:latin typeface="Aptos"/>
              </a:defRPr>
            </a:pPr>
            <a:r>
              <a:t>Modelagem UML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904487"/>
            <a:ext cx="4754879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2D3C"/>
                </a:solidFill>
                <a:latin typeface="Aptos"/>
              </a:defRPr>
            </a:pPr>
            <a:r>
              <a:t>Representação de atores, casos de uso, classes e fluxos de atividades.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0C1C3A"/>
                </a:solidFill>
                <a:latin typeface="Aptos"/>
              </a:defRPr>
            </a:pPr>
            <a:r>
              <a:t>Atores principais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532120"/>
            <a:ext cx="1463040" cy="310896"/>
          </a:xfrm>
          <a:prstGeom prst="roundRect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541264"/>
            <a:ext cx="1408176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Cliente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23160" y="5532120"/>
            <a:ext cx="1828800" cy="310896"/>
          </a:xfrm>
          <a:prstGeom prst="roundRect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0591" y="5541264"/>
            <a:ext cx="1773936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Administrador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5532120"/>
            <a:ext cx="1554480" cy="310896"/>
          </a:xfrm>
          <a:prstGeom prst="round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5541264"/>
            <a:ext cx="1499616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Tesouraria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5532120"/>
            <a:ext cx="2057400" cy="310896"/>
          </a:xfrm>
          <a:prstGeom prst="roundRect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5541264"/>
            <a:ext cx="2002536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Microchip / frota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0C1C3A"/>
                </a:solidFill>
                <a:latin typeface="Aptos"/>
              </a:defRPr>
            </a:pPr>
            <a:r>
              <a:t>Estudo comparativo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37082"/>
                </a:solidFill>
                <a:latin typeface="Aptos"/>
              </a:defRPr>
            </a:pPr>
            <a:r>
              <a:t>XM-Transportes em relação a duas plataformas internacionais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07592"/>
            <a:ext cx="658368" cy="5486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37082"/>
                </a:solidFill>
                <a:latin typeface="Aptos"/>
              </a:defRPr>
            </a:pPr>
            <a:r>
              <a:t>XM-TRANSPORTES  •  PAP 2026  |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4747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73152" cy="3337560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10512"/>
            <a:ext cx="310896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CC1F1F"/>
                </a:solidFill>
                <a:latin typeface="Aptos"/>
              </a:defRPr>
            </a:pPr>
            <a:r>
              <a:t>XM-Transportes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12848"/>
            <a:ext cx="3108960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2D3C"/>
                </a:solidFill>
                <a:latin typeface="Aptos"/>
              </a:defRPr>
            </a:pPr>
            <a:r>
              <a:t>• Sistema personalizado</a:t>
            </a:r>
            <a:br/>
            <a:br/>
            <a:r>
              <a:t>• Venda de bilhetes e aluguer</a:t>
            </a:r>
            <a:br/>
            <a:br/>
            <a:r>
              <a:t>• Validação pela tesouraria</a:t>
            </a:r>
            <a:br/>
            <a:br/>
            <a:r>
              <a:t>• Relatórios internos</a:t>
            </a:r>
            <a:br/>
            <a:br/>
            <a:r>
              <a:t>• Controlo de frota previsto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4747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73152" cy="3337560"/>
          </a:xfrm>
          <a:prstGeom prst="rect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810512"/>
            <a:ext cx="310896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A3A7C"/>
                </a:solidFill>
                <a:latin typeface="Aptos"/>
              </a:defRPr>
            </a:pPr>
            <a:r>
              <a:t>FlixBus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12848"/>
            <a:ext cx="3108960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2D3C"/>
                </a:solidFill>
                <a:latin typeface="Aptos"/>
              </a:defRPr>
            </a:pPr>
            <a:r>
              <a:t>• Rede de viagens de longa distância</a:t>
            </a:r>
            <a:br/>
            <a:br/>
            <a:r>
              <a:t>• Compra e gestão de reservas online</a:t>
            </a:r>
            <a:br/>
            <a:br/>
            <a:r>
              <a:t>• Seleção de lugares e extras</a:t>
            </a:r>
            <a:br/>
            <a:br/>
            <a:r>
              <a:t>• Opções de remarcação e cancelamento</a:t>
            </a:r>
            <a:br/>
            <a:br/>
            <a:r>
              <a:t>• Rastreamento em determinadas rotas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45920"/>
            <a:ext cx="34747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645920"/>
            <a:ext cx="73152" cy="3337560"/>
          </a:xfrm>
          <a:prstGeom prst="rect">
            <a:avLst/>
          </a:prstGeom>
          <a:solidFill>
            <a:srgbClr val="1F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810512"/>
            <a:ext cx="310896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F825C"/>
                </a:solidFill>
                <a:latin typeface="Aptos"/>
              </a:defRPr>
            </a:pPr>
            <a:r>
              <a:t>Busbud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212848"/>
            <a:ext cx="3108960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2D3C"/>
                </a:solidFill>
                <a:latin typeface="Aptos"/>
              </a:defRPr>
            </a:pPr>
            <a:r>
              <a:t>• Agregador de operadores</a:t>
            </a:r>
            <a:br/>
            <a:br/>
            <a:r>
              <a:t>• Comparação de horários e preços</a:t>
            </a:r>
            <a:br/>
            <a:br/>
            <a:r>
              <a:t>• Compra em plataforma unificada</a:t>
            </a:r>
            <a:br/>
            <a:br/>
            <a:r>
              <a:t>• Várias rotas e mercados</a:t>
            </a:r>
            <a:br/>
            <a:br/>
            <a:r>
              <a:t>• Não é focado em aluguer ou gestão interna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349240"/>
            <a:ext cx="10607040" cy="658368"/>
          </a:xfrm>
          <a:prstGeom prst="roundRect">
            <a:avLst/>
          </a:prstGeom>
          <a:solidFill>
            <a:srgbClr val="0C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504688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Diferencial do projeto: adaptar vendas, tesouraria e aluguer de viaturas à realidade operacional da XM-Transportes.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0C1C3A"/>
                </a:solidFill>
                <a:latin typeface="Aptos"/>
              </a:defRPr>
            </a:pPr>
            <a:r>
              <a:t>Tecnologias selecionadas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37082"/>
                </a:solidFill>
                <a:latin typeface="Aptos"/>
              </a:defRPr>
            </a:pPr>
            <a:r>
              <a:t>Arquitetura em três camadas (3-Tier)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07592"/>
            <a:ext cx="658368" cy="5486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37082"/>
                </a:solidFill>
                <a:latin typeface="Aptos"/>
              </a:defRPr>
            </a:pPr>
            <a:r>
              <a:t>XM-TRANSPORTES  •  PAP 2026  |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2900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73152" cy="2880360"/>
          </a:xfrm>
          <a:prstGeom prst="rect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01952"/>
            <a:ext cx="3063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A3A7C"/>
                </a:solidFill>
                <a:latin typeface="Aptos"/>
              </a:defRPr>
            </a:pPr>
            <a:r>
              <a:t>1. Front-End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04288"/>
            <a:ext cx="3063240" cy="21671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242D3C"/>
                </a:solidFill>
                <a:latin typeface="Aptos"/>
              </a:defRPr>
            </a:pPr>
            <a:r>
              <a:t>HTML5</a:t>
            </a:r>
            <a:br/>
            <a:r>
              <a:t>Estrutura das páginas</a:t>
            </a:r>
            <a:br/>
            <a:br/>
            <a:r>
              <a:t>CSS3</a:t>
            </a:r>
            <a:br/>
            <a:r>
              <a:t>Design responsivo</a:t>
            </a:r>
            <a:br/>
            <a:br/>
            <a:r>
              <a:t>JavaScript</a:t>
            </a:r>
            <a:br/>
            <a:r>
              <a:t>Interatividade e validação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42900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73152" cy="2880360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01952"/>
            <a:ext cx="3063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CC1F1F"/>
                </a:solidFill>
                <a:latin typeface="Aptos"/>
              </a:defRPr>
            </a:pPr>
            <a:r>
              <a:t>2. Back-End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04288"/>
            <a:ext cx="3063240" cy="21671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2D3C"/>
                </a:solidFill>
                <a:latin typeface="Aptos"/>
              </a:defRPr>
            </a:pPr>
            <a:r>
              <a:t>PHP 8.x</a:t>
            </a:r>
            <a:br/>
            <a:r>
              <a:t>Regras de negócio</a:t>
            </a:r>
            <a:br/>
            <a:br/>
            <a:r>
              <a:t>Sessões e autenticação</a:t>
            </a:r>
            <a:br/>
            <a:br/>
            <a:r>
              <a:t>Processamento de reservas, pagamentos e relatórios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42900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73152" cy="2880360"/>
          </a:xfrm>
          <a:prstGeom prst="rect">
            <a:avLst/>
          </a:prstGeom>
          <a:solidFill>
            <a:srgbClr val="1F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901952"/>
            <a:ext cx="3063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F825C"/>
                </a:solidFill>
                <a:latin typeface="Aptos"/>
              </a:defRPr>
            </a:pPr>
            <a:r>
              <a:t>3. Base de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04288"/>
            <a:ext cx="3063240" cy="21671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2D3C"/>
                </a:solidFill>
                <a:latin typeface="Aptos"/>
              </a:defRPr>
            </a:pPr>
            <a:r>
              <a:t>MySQL 8.0</a:t>
            </a:r>
            <a:br/>
            <a:r>
              <a:t>Armazenamento persistente</a:t>
            </a:r>
            <a:br/>
            <a:br/>
            <a:r>
              <a:t>SQL</a:t>
            </a:r>
            <a:br/>
            <a:r>
              <a:t>Consulta e manipulação de dados</a:t>
            </a:r>
            <a:br/>
            <a:br/>
            <a:r>
              <a:t>Integridade e relações entre tabelas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8348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637082"/>
                </a:solidFill>
                <a:latin typeface="Aptos"/>
              </a:defRPr>
            </a:pPr>
            <a:r>
              <a:t>Interface do utilizador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983480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CC1F1F"/>
                </a:solidFill>
                <a:latin typeface="Aptos"/>
              </a:defRPr>
            </a:pPr>
            <a:r>
              <a:t>↓  Requisições  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8348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637082"/>
                </a:solidFill>
                <a:latin typeface="Aptos"/>
              </a:defRPr>
            </a:pPr>
            <a:r>
              <a:t>Dados organizados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0C1C3A"/>
                </a:solidFill>
                <a:latin typeface="Aptos"/>
              </a:defRPr>
            </a:pPr>
            <a:r>
              <a:t>Ferramentas de apoio: VS Code, XAMPP, MySQL Workbench e navegadores para testes.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0C1C3A"/>
                </a:solidFill>
                <a:latin typeface="Aptos"/>
              </a:defRPr>
            </a:pPr>
            <a:r>
              <a:t>Estrutura da base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37082"/>
                </a:solidFill>
                <a:latin typeface="Aptos"/>
              </a:defRPr>
            </a:pPr>
            <a:r>
              <a:t>Principais entidades previstas no modelo relacional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07592"/>
            <a:ext cx="658368" cy="5486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37082"/>
                </a:solidFill>
                <a:latin typeface="Aptos"/>
              </a:defRPr>
            </a:pPr>
            <a:r>
              <a:t>XM-TRANSPORTES  •  PAP 2026  |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50749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109728" cy="1188720"/>
          </a:xfrm>
          <a:prstGeom prst="rect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20240"/>
            <a:ext cx="4480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A3A7C"/>
                </a:solidFill>
                <a:latin typeface="Aptos"/>
              </a:defRPr>
            </a:pPr>
            <a:r>
              <a:t>Utilizadores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9152"/>
            <a:ext cx="4480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2D3C"/>
                </a:solidFill>
                <a:latin typeface="Aptos"/>
              </a:defRPr>
            </a:pPr>
            <a:r>
              <a:t>admin • cliente • tesoureiro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737360"/>
            <a:ext cx="50749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737360"/>
            <a:ext cx="109728" cy="1188720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920240"/>
            <a:ext cx="4480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CC1F1F"/>
                </a:solidFill>
                <a:latin typeface="Aptos"/>
              </a:defRPr>
            </a:pPr>
            <a:r>
              <a:t>Transporte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359152"/>
            <a:ext cx="4480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2D3C"/>
                </a:solidFill>
                <a:latin typeface="Aptos"/>
              </a:defRPr>
            </a:pPr>
            <a:r>
              <a:t>autocarro • linha • horário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83280"/>
            <a:ext cx="50749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83280"/>
            <a:ext cx="109728" cy="1188720"/>
          </a:xfrm>
          <a:prstGeom prst="rect">
            <a:avLst/>
          </a:prstGeom>
          <a:solidFill>
            <a:srgbClr val="1F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566160"/>
            <a:ext cx="4480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F825C"/>
                </a:solidFill>
                <a:latin typeface="Aptos"/>
              </a:defRPr>
            </a:pPr>
            <a:r>
              <a:t>Comercial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005072"/>
            <a:ext cx="4480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2D3C"/>
                </a:solidFill>
                <a:latin typeface="Aptos"/>
              </a:defRPr>
            </a:pPr>
            <a:r>
              <a:t>bilhete • aluguer • pagamento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383280"/>
            <a:ext cx="50749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3383280"/>
            <a:ext cx="109728" cy="1188720"/>
          </a:xfrm>
          <a:prstGeom prst="rect">
            <a:avLst/>
          </a:prstGeom>
          <a:solidFill>
            <a:srgbClr val="E3A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3566160"/>
            <a:ext cx="4480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E3A630"/>
                </a:solidFill>
                <a:latin typeface="Aptos"/>
              </a:defRPr>
            </a:pPr>
            <a:r>
              <a:t>Frota inteligente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005072"/>
            <a:ext cx="4480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2D3C"/>
                </a:solidFill>
                <a:latin typeface="Aptos"/>
              </a:defRPr>
            </a:pPr>
            <a:r>
              <a:t>viatura • microchip • ocorrência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349240"/>
            <a:ext cx="10515600" cy="594360"/>
          </a:xfrm>
          <a:prstGeom prst="roundRect">
            <a:avLst/>
          </a:prstGeom>
          <a:solidFill>
            <a:srgbClr val="E2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486400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0C1C3A"/>
                </a:solidFill>
                <a:latin typeface="Aptos"/>
              </a:defRPr>
            </a:pPr>
            <a:r>
              <a:t>Relacionamentos por chaves primárias e estrangeiras para manter consistência entre clientes, viagens, bilhetes e pagamentos.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0C1C3A"/>
                </a:solidFill>
                <a:latin typeface="Aptos"/>
              </a:defRPr>
            </a:pPr>
            <a:r>
              <a:t>Segurança e fluxo de pagamento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37082"/>
                </a:solidFill>
                <a:latin typeface="Aptos"/>
              </a:defRPr>
            </a:pPr>
            <a:r>
              <a:t>O serviço só é confirmado após validação financeira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07592"/>
            <a:ext cx="658368" cy="5486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37082"/>
                </a:solidFill>
                <a:latin typeface="Aptos"/>
              </a:defRPr>
            </a:pPr>
            <a:r>
              <a:t>XM-TRANSPORTES  •  PAP 2026  |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6060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" y="2057400"/>
            <a:ext cx="457200" cy="457200"/>
          </a:xfrm>
          <a:prstGeom prst="ellipse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12264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C1C3A"/>
                </a:solidFill>
                <a:latin typeface="Aptos"/>
              </a:defRPr>
            </a:pPr>
            <a:r>
              <a:t>Cliente solicita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90672"/>
            <a:ext cx="2240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42D3C"/>
                </a:solidFill>
                <a:latin typeface="Aptos"/>
              </a:defRPr>
            </a:pPr>
            <a:r>
              <a:t>Escolhe viagem ou viatura e envia os dados.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9544" y="2578608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300" b="1">
                <a:solidFill>
                  <a:srgbClr val="CC1F1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874519"/>
            <a:ext cx="26060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85032" y="2057400"/>
            <a:ext cx="457200" cy="457200"/>
          </a:xfrm>
          <a:prstGeom prst="ellipse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2112264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69748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C1C3A"/>
                </a:solidFill>
                <a:latin typeface="Aptos"/>
              </a:defRPr>
            </a:pPr>
            <a:r>
              <a:t>Sistema regista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90672"/>
            <a:ext cx="2240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42D3C"/>
                </a:solidFill>
                <a:latin typeface="Aptos"/>
              </a:defRPr>
            </a:pPr>
            <a:r>
              <a:t>Guarda o pedido e o comprovativo de pagamento.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2578608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300" b="1">
                <a:solidFill>
                  <a:srgbClr val="CC1F1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874519"/>
            <a:ext cx="26060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11112" y="2057400"/>
            <a:ext cx="457200" cy="457200"/>
          </a:xfrm>
          <a:prstGeom prst="ellipse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2112264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69748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C1C3A"/>
                </a:solidFill>
                <a:latin typeface="Aptos"/>
              </a:defRPr>
            </a:pPr>
            <a:r>
              <a:t>Tesouraria verifica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090672"/>
            <a:ext cx="2240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42D3C"/>
                </a:solidFill>
                <a:latin typeface="Aptos"/>
              </a:defRPr>
            </a:pPr>
            <a:r>
              <a:t>Confere o pagamento e atualiza o estado.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2578608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300" b="1">
                <a:solidFill>
                  <a:srgbClr val="CC1F1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72600" y="1874519"/>
            <a:ext cx="26060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37192" y="2057400"/>
            <a:ext cx="457200" cy="457200"/>
          </a:xfrm>
          <a:prstGeom prst="ellipse">
            <a:avLst/>
          </a:prstGeom>
          <a:solidFill>
            <a:srgbClr val="1A3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37192" y="2112264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697480"/>
            <a:ext cx="2240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C1C3A"/>
                </a:solidFill>
                <a:latin typeface="Aptos"/>
              </a:defRPr>
            </a:pPr>
            <a:r>
              <a:t>Serviço confirmado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090672"/>
            <a:ext cx="2240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242D3C"/>
                </a:solidFill>
                <a:latin typeface="Aptos"/>
              </a:defRPr>
            </a:pPr>
            <a:r>
              <a:t>Bilhete ou contrato é libertado após confirmação.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434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1A3A7C"/>
                </a:solidFill>
                <a:latin typeface="Aptos"/>
              </a:defRPr>
            </a:pPr>
            <a:r>
              <a:t>Medidas técnicas previstas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681728"/>
            <a:ext cx="10332720" cy="1371600"/>
          </a:xfrm>
          <a:prstGeom prst="rect">
            <a:avLst/>
          </a:prstGeom>
          <a:noFill/>
        </p:spPr>
        <p:txBody>
          <a:bodyPr wrap="square" lIns="73152" rIns="73152" tIns="36576" bIns="18288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42D3C"/>
                </a:solidFill>
                <a:latin typeface="Aptos"/>
              </a:defRPr>
            </a:pPr>
            <a:r>
              <a:t>•  HTTPS com SSL/TLS para proteger a comunicação.</a:t>
            </a:r>
          </a:p>
          <a:p>
            <a:pPr>
              <a:spcAft>
                <a:spcPts val="300"/>
              </a:spcAft>
              <a:defRPr sz="1300">
                <a:solidFill>
                  <a:srgbClr val="242D3C"/>
                </a:solidFill>
                <a:latin typeface="Aptos"/>
              </a:defRPr>
            </a:pPr>
            <a:r>
              <a:t>•  Consultas preparadas (PDO) para reduzir o risco de SQL Injection.</a:t>
            </a:r>
          </a:p>
          <a:p>
            <a:pPr>
              <a:spcAft>
                <a:spcPts val="300"/>
              </a:spcAft>
              <a:defRPr sz="1300">
                <a:solidFill>
                  <a:srgbClr val="242D3C"/>
                </a:solidFill>
                <a:latin typeface="Aptos"/>
              </a:defRPr>
            </a:pPr>
            <a:r>
              <a:t>•  Validação e tratamento de entradas para mitigar XSS.</a:t>
            </a:r>
          </a:p>
          <a:p>
            <a:pPr>
              <a:spcAft>
                <a:spcPts val="300"/>
              </a:spcAft>
              <a:defRPr sz="1300">
                <a:solidFill>
                  <a:srgbClr val="242D3C"/>
                </a:solidFill>
                <a:latin typeface="Aptos"/>
              </a:defRPr>
            </a:pPr>
            <a:r>
              <a:t>•  Senhas protegidas com password_hash() e BCRYPT.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0C1C3A"/>
                </a:solidFill>
                <a:latin typeface="Aptos"/>
              </a:defRPr>
            </a:pPr>
            <a:r>
              <a:t>Benefícios esperados e desafios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37082"/>
                </a:solidFill>
                <a:latin typeface="Aptos"/>
              </a:defRPr>
            </a:pPr>
            <a:r>
              <a:t>O que pode melhorar e o que precisa de atenção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07592"/>
            <a:ext cx="658368" cy="5486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37082"/>
                </a:solidFill>
                <a:latin typeface="Aptos"/>
              </a:defRPr>
            </a:pPr>
            <a:r>
              <a:t>XM-TRANSPORTES  •  PAP 2026  |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73152" cy="3474720"/>
          </a:xfrm>
          <a:prstGeom prst="rect">
            <a:avLst/>
          </a:prstGeom>
          <a:solidFill>
            <a:srgbClr val="1F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56232"/>
            <a:ext cx="48463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F825C"/>
                </a:solidFill>
                <a:latin typeface="Aptos"/>
              </a:defRPr>
            </a:pPr>
            <a:r>
              <a:t>Benefícios esperados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58568"/>
            <a:ext cx="4846320" cy="2761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2D3C"/>
                </a:solidFill>
                <a:latin typeface="Aptos"/>
              </a:defRPr>
            </a:pPr>
            <a:r>
              <a:t>• Atendimento mais rápido</a:t>
            </a:r>
            <a:br/>
            <a:br/>
            <a:r>
              <a:t>• Consulta remota de horários e preços</a:t>
            </a:r>
            <a:br/>
            <a:br/>
            <a:r>
              <a:t>• Maior organização das vendas e reservas</a:t>
            </a:r>
            <a:br/>
            <a:br/>
            <a:r>
              <a:t>• Melhor controlo dos pagamentos</a:t>
            </a:r>
            <a:br/>
            <a:br/>
            <a:r>
              <a:t>• Relatórios para apoiar decisões</a:t>
            </a:r>
            <a:br/>
            <a:br/>
            <a:r>
              <a:t>• Potencial de fidelização dos clientes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91640"/>
            <a:ext cx="73152" cy="3474720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856232"/>
            <a:ext cx="48463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CC1F1F"/>
                </a:solidFill>
                <a:latin typeface="Aptos"/>
              </a:defRPr>
            </a:pPr>
            <a:r>
              <a:t>Desafios a gerir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258568"/>
            <a:ext cx="4846320" cy="2761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242D3C"/>
                </a:solidFill>
                <a:latin typeface="Aptos"/>
              </a:defRPr>
            </a:pPr>
            <a:r>
              <a:t>• Testar a integração entre PHP e MySQL</a:t>
            </a:r>
            <a:br/>
            <a:br/>
            <a:r>
              <a:t>• Validar a integração dos microchips</a:t>
            </a:r>
            <a:br/>
            <a:br/>
            <a:r>
              <a:t>• Manter servidor e internet estáveis</a:t>
            </a:r>
            <a:br/>
            <a:br/>
            <a:r>
              <a:t>• Formar os funcionários</a:t>
            </a:r>
            <a:br/>
            <a:br/>
            <a:r>
              <a:t>• Incentivar a confiança dos clientes nas compras 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0C1C3A"/>
                </a:solidFill>
                <a:latin typeface="Aptos"/>
              </a:defRPr>
            </a:pPr>
            <a:r>
              <a:t>Os resultados dependem da implementação, dos testes, da infraestrutura e da adoção do sistema pela empresa.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FFBEBE"/>
                </a:solidFill>
                <a:latin typeface="Aptos"/>
              </a:defRPr>
            </a:pPr>
            <a: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996696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Tecnologia para vender melhor,</a:t>
            </a:r>
            <a:br/>
            <a:r>
              <a:t>gerir com rigor e servir o cliente.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71800"/>
            <a:ext cx="731520" cy="54864"/>
          </a:xfrm>
          <a:prstGeom prst="rect">
            <a:avLst/>
          </a:prstGeom>
          <a:solidFill>
            <a:srgbClr val="C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9966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0">
                <a:solidFill>
                  <a:srgbClr val="DAE4F4"/>
                </a:solidFill>
                <a:latin typeface="Aptos"/>
              </a:defRPr>
            </a:pPr>
            <a:r>
              <a:t>O sistema proposto procura reunir, numa única plataforma, a venda de bilhetes, o aluguer de viaturas, a validação de pagamentos e o apoio à gestão da frota.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5943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OBRIGADO PELA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CBD8EE"/>
                </a:solidFill>
                <a:latin typeface="Aptos"/>
              </a:defRPr>
            </a:pPr>
            <a:r>
              <a:t>Questões?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CBD8EE"/>
                </a:solidFill>
                <a:latin typeface="Aptos"/>
              </a:defRPr>
            </a:pPr>
            <a:r>
              <a:t>Josemar Bunga Fonseca  •  IMCL  •  Luanda,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